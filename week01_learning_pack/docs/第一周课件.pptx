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第一周：把训练循环跑通</a:t>
            </a:r>
          </a:p>
          <a:p>
            <a:r>
              <a:t>张量 → 自动求导 → 参数更新 → 保存与加载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从数据到结果：本周只走通这条链</a:t>
            </a:r>
          </a:p>
          <a:p>
            <a:r>
              <a:t>合成回归任务，不是语言模型；输入、模型结构和损失会在后续周次升级。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四次课，四份可检查的成果</a:t>
            </a:r>
          </a:p>
          <a:p>
            <a:r>
              <a:t>建议隔天学习。没有通过当前测试，就先修复，不跳步。</a:t>
            </a:r>
          </a:p>
          <a:p>
            <a:r>
              <a:t>自学时配合《第一周学习手册》对应课次完成代码和测试。</a:t>
            </a:r>
          </a:p>
          <a:p>
            <a:r>
              <a:t>[R1] Raschka：附录 A 主代码（A.1—A.8）: https://github.com/rasbt/LLMs-from-scratch/blob/main/appendix-A/01_main-chapter-code/code-part1.ipynb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先检查张量，再谈模型</a:t>
            </a:r>
          </a:p>
          <a:p>
            <a:r>
              <a:t>四个属性：shape、dtype、device、requires_grad。</a:t>
            </a:r>
          </a:p>
          <a:p>
            <a:r>
              <a:t>自学时配合《第一周学习手册》对应课次完成代码和测试。</a:t>
            </a:r>
          </a:p>
          <a:p>
            <a:r>
              <a:t>[R3] PyTorch：张量入门: https://docs.pytorch.org/tutorials/beginner/basics/tensorqs_tutorial.html</a:t>
            </a:r>
          </a:p>
          <a:p>
            <a:r>
              <a:t>[R4] PyTorch：自动求导: https://docs.pytorch.org/tutorials/beginner/basics/autogradqs_tutorial.html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矩阵乘法：写代码之前先写形状</a:t>
            </a:r>
          </a:p>
          <a:p>
            <a:r>
              <a:t>手写 affine 约定：X:[B,D]，W:[D,K]，b:[K]。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最危险的错误：代码能跑，配对错了</a:t>
            </a:r>
          </a:p>
          <a:p>
            <a:r>
              <a:t>预测和目标必须逐样本对应，不让广播悄悄改变损失的含义。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第1次作业：补四个函数</a:t>
            </a:r>
          </a:p>
          <a:p>
            <a:r>
              <a:t>编辑 exercises/tensor_ops.py，完成 TODO 1—4。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自动求导在回答什么问题？</a:t>
            </a:r>
          </a:p>
          <a:p>
            <a:r>
              <a:t>当前损失对每个参数有多敏感？改变参数，损失会怎样变化？</a:t>
            </a:r>
          </a:p>
          <a:p>
            <a:r>
              <a:t>自学时配合《第一周学习手册》对应课次完成代码和测试。</a:t>
            </a:r>
          </a:p>
          <a:p>
            <a:r>
              <a:t>[R4] PyTorch：自动求导: https://docs.pytorch.org/tutorials/beginner/basics/autogradqs_tutorial.html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手算一个完整例子</a:t>
            </a:r>
          </a:p>
          <a:p>
            <a:r>
              <a:t>x=2，y=5，w=1，b=0。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反向、更新、清零：三个不同动作</a:t>
            </a:r>
          </a:p>
          <a:p>
            <a:r>
              <a:t>把“有梯度”与“参数发生变化”分开验证。</a:t>
            </a:r>
          </a:p>
          <a:p>
            <a:r>
              <a:t>自学时配合《第一周学习手册》对应课次完成代码和测试。</a:t>
            </a:r>
          </a:p>
          <a:p>
            <a:r>
              <a:t>[R4] PyTorch：自动求导: https://docs.pytorch.org/tutorials/beginner/basics/autogradqs_tutorial.html</a:t>
            </a:r>
          </a:p>
          <a:p>
            <a:r>
              <a:t>[R5] PyTorch：优化模型参数: https://docs.pytorch.org/tutorials/beginner/basics/optimization_tutorial.html</a:t>
            </a:r>
          </a:p>
          <a:p>
            <a:r>
              <a:t>[R7] PyTorch：梯度清零: https://docs.pytorch.org/tutorials/recipes/recipes/zeroing_out_gradients.html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为什么梯度会变成 2、4、2？</a:t>
            </a:r>
          </a:p>
          <a:p>
            <a:r>
              <a:t>每次都重新前向计算 w²；w=1，参数始终不更新。</a:t>
            </a:r>
          </a:p>
          <a:p>
            <a:r>
              <a:t>自学时配合《第一周学习手册》对应课次完成代码和测试。</a:t>
            </a:r>
          </a:p>
          <a:p>
            <a:r>
              <a:t>[R7] PyTorch：梯度清零: https://docs.pytorch.org/tutorials/recipes/recipes/zeroing_out_gradients.html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第2次作业：手算与代码必须一致</a:t>
            </a:r>
          </a:p>
          <a:p>
            <a:r>
              <a:t>编辑 exercises/autograd_lab.py，完成 TODO 5—7。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模型很小，但训练过程不能少</a:t>
            </a:r>
          </a:p>
          <a:p>
            <a:r>
              <a:t>TinyRegressor 使用 nn.Linear(2,1)：两个权重和一个偏置。</a:t>
            </a:r>
          </a:p>
          <a:p>
            <a:r>
              <a:t>自学时配合《第一周学习手册》对应课次完成代码和测试。</a:t>
            </a:r>
          </a:p>
          <a:p>
            <a:r>
              <a:t>[R1] Raschka：附录 A 主代码（A.1—A.8）: https://github.com/rasbt/LLMs-from-scratch/blob/main/appendix-A/01_main-chapter-code/code-part1.ipynb</a:t>
            </a:r>
          </a:p>
          <a:p>
            <a:r>
              <a:t>[R5] PyTorch：优化模型参数: https://docs.pytorch.org/tutorials/beginner/basics/optimization_tutorial.html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最小训练循环的六行</a:t>
            </a:r>
          </a:p>
          <a:p>
            <a:r>
              <a:t>本周允许使用 nn.Linear 和 SGD，但不用现成 Trainer。</a:t>
            </a:r>
          </a:p>
          <a:p>
            <a:r>
              <a:t>自学时配合《第一周学习手册》对应课次完成代码和测试。</a:t>
            </a:r>
          </a:p>
          <a:p>
            <a:r>
              <a:t>[R5] PyTorch：优化模型参数: https://docs.pytorch.org/tutorials/beginner/basics/optimization_tutorial.html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日志要回答：究竟发生了什么？</a:t>
            </a:r>
          </a:p>
          <a:p>
            <a:r>
              <a:t>下表来自本包参考代码实测；只是当前合成任务，不是你的本机结果。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做一个能解释的对照实验</a:t>
            </a:r>
          </a:p>
          <a:p>
            <a:r>
              <a:t>只改变学习率，数据、初始化和200步预算都保持相同。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第3次作业：不要只看 loss</a:t>
            </a:r>
          </a:p>
          <a:p>
            <a:r>
              <a:t>编辑 model.py 与 training.py，完成 TODO 8—13。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保存的是权重，还需要模型定义</a:t>
            </a:r>
          </a:p>
          <a:p>
            <a:r>
              <a:t>先创建同样的模型结构，再加载它的 state_dict。</a:t>
            </a:r>
          </a:p>
          <a:p>
            <a:r>
              <a:t>自学时配合《第一周学习手册》对应课次完成代码和测试。</a:t>
            </a:r>
          </a:p>
          <a:p>
            <a:r>
              <a:t>[R6] PyTorch：保存和加载模型: https://docs.pytorch.org/tutorials/beginner/basics/saveloadrun_tutorial.html</a:t>
            </a:r>
          </a:p>
          <a:p>
            <a:r>
              <a:t>[R8] PyTorch：模型与检查点保存加载: https://docs.pytorch.org/tutorials/beginner/saving_loading_models.html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 与 no_grad 不可互相替代</a:t>
            </a:r>
          </a:p>
          <a:p>
            <a:r>
              <a:t>一个控制层的行为模式，一个控制是否记录用于反向的计算图。</a:t>
            </a:r>
          </a:p>
          <a:p>
            <a:r>
              <a:t>自学时配合《第一周学习手册》对应课次完成代码和测试。</a:t>
            </a:r>
          </a:p>
          <a:p>
            <a:r>
              <a:t>[R4] PyTorch：自动求导: https://docs.pytorch.org/tutorials/beginner/basics/autogradqs_tutorial.html</a:t>
            </a:r>
          </a:p>
          <a:p>
            <a:r>
              <a:t>[R6] PyTorch：保存和加载模型: https://docs.pytorch.org/tutorials/beginner/basics/saveloadrun_tutorial.html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加载没有报错，不等于结果正确</a:t>
            </a:r>
          </a:p>
          <a:p>
            <a:r>
              <a:t>同输入、同结构、同模式，然后比较数值。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第4次作业：完成本周总验收</a:t>
            </a:r>
          </a:p>
          <a:p>
            <a:r>
              <a:t>编辑 exercises/checkpoint.py，完成 TODO 14—16。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看到异常，先缩小排查范围</a:t>
            </a:r>
          </a:p>
          <a:p>
            <a:r>
              <a:t>不要同时改模型、学习率和数据；先检查最基本的训练链。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进入第2周之前，脱稿回答这六题</a:t>
            </a:r>
          </a:p>
          <a:p>
            <a:r>
              <a:t>答案不必逐字一致，但必须能结合你自己的代码说明。</a:t>
            </a:r>
          </a:p>
          <a:p>
            <a:r>
              <a:t>自学时配合《第一周学习手册》对应课次完成代码和测试。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官方资料入口（核查日期2026-09-18）</a:t>
            </a:r>
          </a:p>
          <a:p>
            <a:r>
              <a:t>[R1] Raschka：附录 A 主代码（A.1—A.8）: https://github.com/rasbt/LLMs-from-scratch/blob/main/appendix-A/01_main-chapter-code/code-part1.ipynb</a:t>
            </a:r>
          </a:p>
          <a:p>
            <a:r>
              <a:t>[R2] PyTorch：本地安装选择器: https://pytorch.org/get-started/locally/</a:t>
            </a:r>
          </a:p>
          <a:p>
            <a:r>
              <a:t>[R3] PyTorch：张量入门: https://docs.pytorch.org/tutorials/beginner/basics/tensorqs_tutorial.html</a:t>
            </a:r>
          </a:p>
          <a:p>
            <a:r>
              <a:t>[R4] PyTorch：自动求导: https://docs.pytorch.org/tutorials/beginner/basics/autogradqs_tutorial.html</a:t>
            </a:r>
          </a:p>
          <a:p>
            <a:r>
              <a:t>[R5] PyTorch：优化模型参数: https://docs.pytorch.org/tutorials/beginner/basics/optimization_tutorial.html</a:t>
            </a:r>
          </a:p>
          <a:p>
            <a:r>
              <a:t>[R6] PyTorch：保存和加载模型: https://docs.pytorch.org/tutorials/beginner/basics/saveloadrun_tutorial.html</a:t>
            </a:r>
          </a:p>
          <a:p>
            <a:r>
              <a:t>[R7] PyTorch：梯度清零: https://docs.pytorch.org/tutorials/recipes/recipes/zeroing_out_gradients.html</a:t>
            </a:r>
          </a:p>
          <a:p>
            <a:r>
              <a:t>[R8] PyTorch：模型与检查点保存加载: https://docs.pytorch.org/tutorials/beginner/saving_loading_models.html</a:t>
            </a:r>
          </a:p>
          <a:p>
            <a:r>
              <a:t>[R9] Karpathy：Neural Networks: Zero to Hero: https://karpathy.ai/zero-to-hero.html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ithub.com/rasbt/LLMs-from-scratch/blob/main/appendix-A/01_main-chapter-code/code-part1.ipynb" TargetMode="External"/><Relationship Id="rId4" Type="http://schemas.openxmlformats.org/officeDocument/2006/relationships/hyperlink" Target="https://docs.pytorch.org/tutorials/beginner/basics/tensorqs_tutorial.html" TargetMode="External"/><Relationship Id="rId5" Type="http://schemas.openxmlformats.org/officeDocument/2006/relationships/hyperlink" Target="https://docs.pytorch.org/tutorials/beginner/basics/optimization_tutorial.html" TargetMode="External"/><Relationship Id="rId6" Type="http://schemas.openxmlformats.org/officeDocument/2006/relationships/hyperlink" Target="https://docs.pytorch.org/tutorials/beginner/basics/saveloadrun_tutorial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第一周：把训练循环跑通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张量 → 自动求导 → 参数更新 → 保存与加载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221992"/>
            <a:ext cx="7479792" cy="3401568"/>
          </a:xfrm>
          <a:prstGeom prst="roundRect">
            <a:avLst>
              <a:gd name="adj" fmla="val 12000"/>
            </a:avLst>
          </a:prstGeom>
          <a:solidFill>
            <a:srgbClr val="13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70048"/>
            <a:ext cx="6858000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t>不先下载大模型。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t>先证明模型真的在学习。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745736"/>
            <a:ext cx="66294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0">
                <a:solidFill>
                  <a:srgbClr val="E7F1F5"/>
                </a:solidFill>
                <a:latin typeface="Noto Sans CJK SC"/>
              </a:defRPr>
            </a:pPr>
            <a:r>
              <a:t>你将得到：自己的练习代码、训练日志、模型权重、测试结果。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21992"/>
            <a:ext cx="3410712" cy="3401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423160"/>
            <a:ext cx="29535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本周范围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026664"/>
            <a:ext cx="2953512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4 次课，每次核心约 2 小时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16 个代码 TODO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24 道自测题 / 24 项测试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默认 CPU，无外部数据下载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本课件为定制自学材料；原始教程入口、完整讲义和题解均在学习包内。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从数据到结果：本周只走通这条链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合成回归任务，不是语言模型；输入、模型结构和损失会在后续周次升级。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404872"/>
            <a:ext cx="2615184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651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20040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300" b="1">
                <a:solidFill>
                  <a:srgbClr val="17384B"/>
                </a:solidFill>
                <a:latin typeface="Noto Sans CJK SC"/>
              </a:defRPr>
            </a:pPr>
            <a: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88620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X: [32,2]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y: [32,1]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2404872"/>
            <a:ext cx="2615184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2651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320040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300" b="1">
                <a:solidFill>
                  <a:srgbClr val="17384B"/>
                </a:solidFill>
                <a:latin typeface="Noto Sans CJK SC"/>
              </a:defRPr>
            </a:pPr>
            <a:r>
              <a:t>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388620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两个权重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一个偏置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404872"/>
            <a:ext cx="2615184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651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20040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300" b="1">
                <a:solidFill>
                  <a:srgbClr val="17384B"/>
                </a:solidFill>
                <a:latin typeface="Noto Sans CJK SC"/>
              </a:defRPr>
            </a:pPr>
            <a:r>
              <a:t>训练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88620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MSE → 梯度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SGD 更新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404872"/>
            <a:ext cx="2615184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2651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320040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300" b="1">
                <a:solidFill>
                  <a:srgbClr val="17384B"/>
                </a:solidFill>
                <a:latin typeface="Noto Sans CJK SC"/>
              </a:defRPr>
            </a:pPr>
            <a:r>
              <a:t>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388620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训练日志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保存加载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真实标签 y=2*x1−3*x2+0.5 只用于造数据，不能写进模型 forward。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四次课，四份可检查的成果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建议隔天学习。没有通过当前测试，就先修复，不跳步。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[R1]   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221992"/>
            <a:ext cx="111099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5486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50008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7384B"/>
                </a:solidFill>
                <a:latin typeface="Noto Sans CJK SC"/>
              </a:defRPr>
            </a:pPr>
            <a:r>
              <a:t>张量与形状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8658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400" b="0">
                <a:solidFill>
                  <a:srgbClr val="607887"/>
                </a:solidFill>
                <a:latin typeface="Noto Sans CJK SC"/>
              </a:defRPr>
            </a:pPr>
            <a:r>
              <a:t>Raschka A.1—A.2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86584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200" b="0">
                <a:solidFill>
                  <a:srgbClr val="17384B"/>
                </a:solidFill>
                <a:latin typeface="Noto Sans CJK SC"/>
              </a:defRPr>
            </a:pPr>
            <a:r>
              <a:t>tensor_ops.py / 8项测试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017520"/>
            <a:ext cx="111099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45536"/>
            <a:ext cx="5486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45536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7384B"/>
                </a:solidFill>
                <a:latin typeface="Noto Sans CJK SC"/>
              </a:defRPr>
            </a:pPr>
            <a:r>
              <a:t>自动求导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8211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400" b="0">
                <a:solidFill>
                  <a:srgbClr val="607887"/>
                </a:solidFill>
                <a:latin typeface="Noto Sans CJK SC"/>
              </a:defRPr>
            </a:pPr>
            <a:r>
              <a:t>Raschka A.3—A.4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82112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200" b="0">
                <a:solidFill>
                  <a:srgbClr val="17384B"/>
                </a:solidFill>
                <a:latin typeface="Noto Sans CJK SC"/>
              </a:defRPr>
            </a:pPr>
            <a:r>
              <a:t>autograd_lab.py / 5项测试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813048"/>
            <a:ext cx="111099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41063"/>
            <a:ext cx="5486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41063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7384B"/>
                </a:solidFill>
                <a:latin typeface="Noto Sans CJK SC"/>
              </a:defRPr>
            </a:pPr>
            <a:r>
              <a:t>最小训练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7763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400" b="0">
                <a:solidFill>
                  <a:srgbClr val="607887"/>
                </a:solidFill>
                <a:latin typeface="Noto Sans CJK SC"/>
              </a:defRPr>
            </a:pPr>
            <a:r>
              <a:t>Raschka A.5、A.7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977639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200" b="0">
                <a:solidFill>
                  <a:srgbClr val="17384B"/>
                </a:solidFill>
                <a:latin typeface="Noto Sans CJK SC"/>
              </a:defRPr>
            </a:pPr>
            <a:r>
              <a:t>model.py + training.py / 7项测试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4608576"/>
            <a:ext cx="111099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36592"/>
            <a:ext cx="54864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36592"/>
            <a:ext cx="27432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7384B"/>
                </a:solidFill>
                <a:latin typeface="Noto Sans CJK SC"/>
              </a:defRPr>
            </a:pPr>
            <a:r>
              <a:t>保存与加载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77316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400" b="0">
                <a:solidFill>
                  <a:srgbClr val="607887"/>
                </a:solidFill>
                <a:latin typeface="Noto Sans CJK SC"/>
              </a:defRPr>
            </a:pPr>
            <a:r>
              <a:t>Raschka A.8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77316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200" b="0">
                <a:solidFill>
                  <a:srgbClr val="17384B"/>
                </a:solidFill>
                <a:latin typeface="Noto Sans CJK SC"/>
              </a:defRPr>
            </a:pPr>
            <a:r>
              <a:t>checkpoint.py / 4项测试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主读 Appendix A 的 code-part1.ipynb；本周跳过 A.9 的 GPU 与多卡。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先检查张量，再谈模型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四个属性：shape、dtype、device、requires_grad。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[R3][R4]   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例子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  <a:r>
              <a:t>x = torch.zeros(32, 2)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  <a:r>
              <a:t>x.shape       # [32,2]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  <a:r>
              <a:t>x.dtype       # float32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  <a:r>
              <a:t>x.device      # cpu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  <a:r>
              <a:t>x.requires_grad  # False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为每个轴命名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B=32：一批中的样本数量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D=2：每条样本的特征数量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标签 y 保持 [B,1]。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数值特征和回归目标用浮点数。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CUDA available=False 不影响本周学习；CPU 自动求导测试通过即可继续。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矩阵乘法：写代码之前先写形状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手写 affine 约定：X:[B,D]，W:[D,K]，b:[K]。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[8,2] @ [2,1] + [1]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             ↓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           [8,1]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1*2 + 2*(-3) + 0.5 = -3.5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两个运算不能互换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@：矩阵乘法，会沿匹配维度求和。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*：逐元素相乘。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b 被广播到每个样本，不改变样本数量。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本课的 W 存为 [D,K]；第3课 nn.Linear 的 weight 存为 [K,D]。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最危险的错误：代码能跑，配对错了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预测和目标必须逐样本对应，不让广播悄悄改变损失的含义。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错误配对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pred: [32,1]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y:    [32]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pred - y  →  [32,32]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不是每条样本自己的误差。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正确做法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最后一列用 X[:, -1:]，保留列轴。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计算 MSE 前检查：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pred.shape == target.shape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非法形状直接报错，而不是猜测修正。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自测：X[:, -1] 与 X[:, -1:] 的结果形状为什么不同？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01 /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第1次作业：补四个函数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编辑 exercises/tensor_ops.py，完成 TODO 1—4。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你要实现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create_demo_tensor：0—11 → [3,4]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last_column：保留 [B,1]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affine：X@W+b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mse：误差平方后取均值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运行与验收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python run_lesson.py --lesson 1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python -m pytest tests/test_01_tensors.py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# 默认检查 exercises/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8项测试通过；留下 lesson01.json；解释一次静默广播错误。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自动求导在回答什么问题？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当前损失对每个参数有多敏感？改变参数，损失会怎样变化？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[R4]   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前向：得到损失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pred = w*x + b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error = pred - y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loss = error**2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800" b="0">
                <a:solidFill>
                  <a:srgbClr val="E7F1F5"/>
                </a:solidFill>
                <a:latin typeface="DejaVu Sans Mono"/>
              </a:defRPr>
            </a:pPr>
            <a:r>
              <a:t>x=2, y=5, w=1, b=0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反向：得到方向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对参数求导，得到 loss 对 w、b 的变化率。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链式法则把局部导数组合起来。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不需要猜更新方向，但仍需要指定优化器和学习率。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先纸面推导，再运行 autograd，避免只记住 backward 这一行代码。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手算一个完整例子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x=2，y=5，w=1，b=0。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预测与误差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2000" b="0">
                <a:solidFill>
                  <a:srgbClr val="E7F1F5"/>
                </a:solidFill>
                <a:latin typeface="DejaVu Sans Mono"/>
              </a:defRPr>
            </a:pPr>
            <a:r>
              <a:t>pred = 1*2+0 = 2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2000" b="0">
                <a:solidFill>
                  <a:srgbClr val="E7F1F5"/>
                </a:solidFill>
                <a:latin typeface="DejaVu Sans Mono"/>
              </a:defRPr>
            </a:pPr>
            <a:r>
              <a:t>error = 2-5 = -3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2000" b="0">
                <a:solidFill>
                  <a:srgbClr val="E7F1F5"/>
                </a:solidFill>
                <a:latin typeface="DejaVu Sans Mono"/>
              </a:defRPr>
            </a:pPr>
            <a:r>
              <a:t>loss = (-3)**2 =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导数与更新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900" b="0">
                <a:solidFill>
                  <a:srgbClr val="17384B"/>
                </a:solidFill>
                <a:latin typeface="Noto Sans CJK SC"/>
              </a:defRPr>
            </a:pPr>
            <a:r>
              <a:t>dL/dw = 2*(-3)*2 = -12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900" b="0">
                <a:solidFill>
                  <a:srgbClr val="17384B"/>
                </a:solidFill>
                <a:latin typeface="Noto Sans CJK SC"/>
              </a:defRPr>
            </a:pPr>
            <a:r>
              <a:t>dL/db = 2*(-3) = -6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9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900" b="0">
                <a:solidFill>
                  <a:srgbClr val="17384B"/>
                </a:solidFill>
                <a:latin typeface="Noto Sans CJK SC"/>
              </a:defRPr>
            </a:pPr>
            <a:r>
              <a:t>学习率 0.1 时：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900" b="0">
                <a:solidFill>
                  <a:srgbClr val="17384B"/>
                </a:solidFill>
                <a:latin typeface="Noto Sans CJK SC"/>
              </a:defRPr>
            </a:pPr>
            <a:r>
              <a:t>w_new=2.2，b_new=0.6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更新后恰好拟合这一条样本，是本例数值安排；不是训练的一般保证。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反向、更新、清零：三个不同动作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把“有梯度”与“参数发生变化”分开验证。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[R4][R5][R7]   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59152"/>
            <a:ext cx="3566160" cy="3136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6032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backward()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63824"/>
            <a:ext cx="3108960" cy="2203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计算梯度，并累积到参数 .grad。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不会替你选择学习率。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359152"/>
            <a:ext cx="3566160" cy="3136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56032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step()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163824"/>
            <a:ext cx="3108960" cy="2203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根据优化器规则与梯度更新参数。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本周使用普通 SGD。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59152"/>
            <a:ext cx="3566160" cy="3136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56032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zero_grad()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63824"/>
            <a:ext cx="3108960" cy="2203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清除旧梯度，避免意外累加。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本周每步都做。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常规顺序：清梯度 → 前向 → loss → 反向 → 参数更新。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为什么梯度会变成 2、4、2？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每次都重新前向计算 w²；w=1，参数始终不更新。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[R7]   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三次实验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w.square().backward()  # 2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w.square().backward()  # 4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w.grad = None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w.square().backward()  #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解释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每次新算出的导数都是 2。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第二次没有清掉第一次的梯度，累积为4。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第三次清空后重新计算，回到2。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这里每次都是新的计算图，不需要 retain_graph=True。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02 /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第2次作业：手算与代码必须一致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编辑 exercises/autograd_lab.py，完成 TODO 5—7。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要留下的证据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prediction=2，loss=9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grad_w=-12，grad_b=-6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只执行 backward 后：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w 仍为1，b 仍为0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运行与验收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python run_lesson.py --lesson 2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python -m pytest tests/test_02_gradients.py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# 默认检查 exercises/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5项测试通过；改变 w、b 输入后仍算对，不能在函数中硬编码答案。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模型很小，但训练过程不能少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TinyRegressor 使用 nn.Linear(2,1)：两个权重和一个偏置。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[R1][R5]    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本周实验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  <a:r>
              <a:t>32条样本，固定 batch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  <a:r>
              <a:t>y = 2*x1-3*x2+0.5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  <a:r>
              <a:t>3个可训练参数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  <a:r>
              <a:t>MSE + SGD(lr=0.05)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700" b="0">
                <a:solidFill>
                  <a:srgbClr val="E7F1F5"/>
                </a:solidFill>
                <a:latin typeface="DejaVu Sans Mono"/>
              </a:defRPr>
            </a:pPr>
            <a:r>
              <a:t>200次更新，CPU / float32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参数从随机值开始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forward 只调用可训练层。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目标公式只能出现在数据生成里。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拟合好同一 batch 只验证训练代码，不评价泛化能力。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输入 [32,2] → 输出 [32,1]。每一步都检查形状与数值。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最小训练循环的六行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本周允许使用 nn.Linear 和 SGD，但不用现成 Trainer。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[R5]    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647395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601675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每一步的主线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601675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model.train()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optimizer.zero_grad(set_to_none=True)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pred = model(x)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loss = mse(pred, y)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loss.backward()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optimizer.step()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14616" y="2167128"/>
            <a:ext cx="443484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6" y="2368296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额外检查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6" y="2971800"/>
            <a:ext cx="3977639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保存更新前参数快照。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检查 loss 是否有限。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检查梯度是否有限。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比较参数更新前后的差。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参数快照用 p.detach().clone()；不要用 old=p 冒充独立副本。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日志要回答：究竟发生了什么？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下表来自本包参考代码实测；只是当前合成任务，不是你的本机结果。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212848"/>
            <a:ext cx="11109960" cy="612648"/>
          </a:xfrm>
          <a:prstGeom prst="roundRect">
            <a:avLst>
              <a:gd name="adj" fmla="val 12000"/>
            </a:avLst>
          </a:prstGeom>
          <a:solidFill>
            <a:srgbClr val="13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5915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5" y="235915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loss_before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35915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loss_after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35915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参数变化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880360"/>
            <a:ext cx="1110996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026664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5" y="3026664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14.6092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026664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11.9589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026664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0.373092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547872"/>
            <a:ext cx="1110996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694176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5" y="3694176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0.342213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694176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0.281549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694176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0.056408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4215383"/>
            <a:ext cx="1110996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4361688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5" y="4361688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1.24e−7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361688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1.05e−7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361688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500" b="0">
                <a:solidFill>
                  <a:srgbClr val="17384B"/>
                </a:solidFill>
                <a:latin typeface="DejaVu Sans Mono"/>
              </a:defRPr>
            </a:pPr>
            <a:r>
              <a:t>3.16e−5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loss_before 在更新前计算；loss_after 在更新后重新前向计算，不混淆比较时点。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做一个能解释的对照实验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只改变学习率，数据、初始化和200步预算都保持相同。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04288"/>
            <a:ext cx="356616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587752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lr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337560"/>
            <a:ext cx="308152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500" b="1">
                <a:solidFill>
                  <a:srgbClr val="17384B"/>
                </a:solidFill>
                <a:latin typeface="Noto Sans CJK SC"/>
              </a:defRPr>
            </a:pPr>
            <a:r>
              <a:t>14.6092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242816"/>
            <a:ext cx="3081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梯度存在，参数不变。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loss 不下降。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304288"/>
            <a:ext cx="356616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587752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lr = 0.005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37560"/>
            <a:ext cx="308152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500" b="1">
                <a:solidFill>
                  <a:srgbClr val="17384B"/>
                </a:solidFill>
                <a:latin typeface="Noto Sans CJK SC"/>
              </a:defRPr>
            </a:pPr>
            <a:r>
              <a:t>0.333037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242816"/>
            <a:ext cx="3081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发生更新。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固定200步下拟合较慢。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304288"/>
            <a:ext cx="356616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587752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1">
                <a:solidFill>
                  <a:srgbClr val="187D72"/>
                </a:solidFill>
                <a:latin typeface="Noto Sans CJK SC"/>
              </a:defRPr>
            </a:pPr>
            <a:r>
              <a:t>lr = 0.05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337560"/>
            <a:ext cx="308152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500" b="1">
                <a:solidFill>
                  <a:srgbClr val="17384B"/>
                </a:solidFill>
                <a:latin typeface="Noto Sans CJK SC"/>
              </a:defRPr>
            </a:pPr>
            <a:r>
              <a:t>3.51e−12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4242816"/>
            <a:ext cx="3081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本例充分拟合。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不外推到其他任务。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数值均为本包 Linux CPU、PyTorch 2.10.0+cpu 的参考运行结果。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03 /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第3次作业：不要只看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编辑 model.py 与 training.py，完成 TODO 8—13。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训练验收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模型参数量=3；输出 [32,1]。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早期梯度有限，参数发生变化。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200步后固定 batch 的 loss 明显降低。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保留 CSV 与 lr=0 对照。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运行与验收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python run_lesson.py --lesson 3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python -m pytest tests/test_03_training.py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# 默认检查 exercises/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7项测试通过。后期极小更新可能被舍入为0，不要求每一步都看到参数变化。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保存的是权重，还需要模型定义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先创建同样的模型结构，再加载它的 state_dict。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[R6][R8]   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6419088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59618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保存与加载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961888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400" b="0">
                <a:solidFill>
                  <a:srgbClr val="E7F1F5"/>
                </a:solidFill>
                <a:latin typeface="DejaVu Sans Mono"/>
              </a:defRPr>
            </a:pPr>
            <a:r>
              <a:t>torch.save(model.state_dict(), path)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4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400" b="0">
                <a:solidFill>
                  <a:srgbClr val="E7F1F5"/>
                </a:solidFill>
                <a:latin typeface="DejaVu Sans Mono"/>
              </a:defRPr>
            </a:pPr>
            <a:r>
              <a:t>restored = TinyRegressor()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400" b="0">
                <a:solidFill>
                  <a:srgbClr val="E7F1F5"/>
                </a:solidFill>
                <a:latin typeface="DejaVu Sans Mono"/>
              </a:defRPr>
            </a:pPr>
            <a:r>
              <a:t>state = torch.load(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400" b="0">
                <a:solidFill>
                  <a:srgbClr val="E7F1F5"/>
                </a:solidFill>
                <a:latin typeface="DejaVu Sans Mono"/>
              </a:defRPr>
            </a:pPr>
            <a:r>
              <a:t>    path, map_location="cpu",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400" b="0">
                <a:solidFill>
                  <a:srgbClr val="E7F1F5"/>
                </a:solidFill>
                <a:latin typeface="DejaVu Sans Mono"/>
              </a:defRPr>
            </a:pPr>
            <a:r>
              <a:t>    weights_only=True)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400" b="0">
                <a:solidFill>
                  <a:srgbClr val="E7F1F5"/>
                </a:solidFill>
                <a:latin typeface="DejaVu Sans Mono"/>
              </a:defRPr>
            </a:pPr>
            <a:r>
              <a:t>restored.load_state_dict(state)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9752" y="2167128"/>
            <a:ext cx="4489704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352" y="2368296"/>
            <a:ext cx="40325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本周边界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2971800"/>
            <a:ext cx="4032504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只验证权重保存和预测一致。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完整恢复训练，还需要优化器、步数、随机状态等信息。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完整检查点留到第5周。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只加载自己生成或可信来源的文件；weights_only=True 不是万能安全沙箱。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eval 与 no_grad 不可互相替代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一个控制层的行为模式，一个控制是否记录用于反向的计算图。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[R4][R6]    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48640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model.eval()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02920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影响 Dropout、BatchNorm 等层。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不会自动关闭 autograd。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本周只有线性层，eval 不改变其前向公式。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67128"/>
            <a:ext cx="5422392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68296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torch.no_grad()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71800"/>
            <a:ext cx="496519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通常用于不需要反向的预测和检查。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不自动切换到 eval 模式。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</a:p>
          <a:p>
            <a:pPr>
              <a:lnSpc>
                <a:spcPct val="117000"/>
              </a:lnSpc>
              <a:spcAft>
                <a:spcPts val="800"/>
              </a:spcAft>
              <a:defRPr sz="1800" b="0">
                <a:solidFill>
                  <a:srgbClr val="17384B"/>
                </a:solidFill>
                <a:latin typeface="Noto Sans CJK SC"/>
              </a:defRPr>
            </a:pPr>
            <a:r>
              <a:t>保存加载一致性测试里，两者都使用。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提供的概念测试直接验证：eval 模式下的输出依然可能 requires_grad=True。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加载没有报错，不等于结果正确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同输入、同结构、同模式，然后比较数值。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6419088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59618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一致性检查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961888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model.eval()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restored.eval()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with torch.no_grad():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    before = model(probe)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    after = restored(probe)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torch.testing.assert_close(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600" b="0">
                <a:solidFill>
                  <a:srgbClr val="E7F1F5"/>
                </a:solidFill>
                <a:latin typeface="DejaVu Sans Mono"/>
              </a:defRPr>
            </a:pPr>
            <a:r>
              <a:t>    before, after)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9752" y="2167128"/>
            <a:ext cx="4489704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352" y="2368296"/>
            <a:ext cx="40325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还要检查什么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2971800"/>
            <a:ext cx="4032504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参数名称与形状。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加载后的 CPU 设备。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新模型与旧模型不共享参数。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最大输出绝对差异。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参考运行 max_abs_diff=0；对其他平台应使用合理容差，不承诺逐位一致。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LESSON 04 /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第4次作业：完成本周总验收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编辑 exercises/checkpoint.py，完成 TODO 14—16。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67128"/>
            <a:ext cx="5303520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最终产物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4846320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tiny_regressor.pt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checkpoint_summary.json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24项自己的实现测试通过</a:t>
            </a:r>
          </a:p>
          <a:p>
            <a:pPr>
              <a:lnSpc>
                <a:spcPct val="117000"/>
              </a:lnSpc>
              <a:spcAft>
                <a:spcPts val="800"/>
              </a:spcAft>
              <a:defRPr sz="1700" b="0">
                <a:solidFill>
                  <a:srgbClr val="17384B"/>
                </a:solidFill>
                <a:latin typeface="Noto Sans CJK SC"/>
              </a:defRPr>
            </a:pPr>
            <a:r>
              <a:t>填写 reports/week01_template.md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2167128"/>
            <a:ext cx="5605272" cy="3410712"/>
          </a:xfrm>
          <a:prstGeom prst="roundRect">
            <a:avLst>
              <a:gd name="adj" fmla="val 12000"/>
            </a:avLst>
          </a:prstGeom>
          <a:solidFill>
            <a:srgbClr val="1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2368296"/>
            <a:ext cx="5148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E7F1F5"/>
                </a:solidFill>
                <a:latin typeface="Noto Sans CJK SC"/>
              </a:defRPr>
            </a:pPr>
            <a:r>
              <a:t>运行与验收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971800"/>
            <a:ext cx="5148072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python run_lesson.py --lesson 4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python -m pytest </a:t>
            </a: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</a:p>
          <a:p>
            <a:pPr>
              <a:lnSpc>
                <a:spcPct val="117000"/>
              </a:lnSpc>
              <a:spcAft>
                <a:spcPts val="300"/>
              </a:spcAft>
              <a:defRPr sz="1300" b="0">
                <a:solidFill>
                  <a:srgbClr val="E7F1F5"/>
                </a:solidFill>
                <a:latin typeface="DejaVu Sans Mono"/>
              </a:defRPr>
            </a:pPr>
            <a:r>
              <a:t># 默认检查 exercises/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入口会重新执行同样的小训练，再调用你写的保存与加载代码，无需手动寻找旧权重。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看到异常，先缩小排查范围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不要同时改模型、学习率和数据；先检查最基本的训练链。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48840"/>
            <a:ext cx="111099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31720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1">
                <a:solidFill>
                  <a:srgbClr val="187D72"/>
                </a:solidFill>
                <a:latin typeface="Noto Sans CJK SC"/>
              </a:defRPr>
            </a:pPr>
            <a:r>
              <a:t>没有梯度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331720"/>
            <a:ext cx="7626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400" b="0">
                <a:solidFill>
                  <a:srgbClr val="17384B"/>
                </a:solidFill>
                <a:latin typeface="Noto Sans CJK SC"/>
              </a:defRPr>
            </a:pPr>
            <a:r>
              <a:t>检查 requires_grad、detach、no_grad，以及是否执行 backward。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990088"/>
            <a:ext cx="111099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72968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1">
                <a:solidFill>
                  <a:srgbClr val="187D72"/>
                </a:solidFill>
                <a:latin typeface="Noto Sans CJK SC"/>
              </a:defRPr>
            </a:pPr>
            <a:r>
              <a:t>有梯度但参数不变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172968"/>
            <a:ext cx="7626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400" b="0">
                <a:solidFill>
                  <a:srgbClr val="17384B"/>
                </a:solidFill>
                <a:latin typeface="Noto Sans CJK SC"/>
              </a:defRPr>
            </a:pPr>
            <a:r>
              <a:t>检查 step、lr=0；再看是否已经接近数值精度极限。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831336"/>
            <a:ext cx="111099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14216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1">
                <a:solidFill>
                  <a:srgbClr val="187D72"/>
                </a:solidFill>
                <a:latin typeface="Noto Sans CJK SC"/>
              </a:defRPr>
            </a:pPr>
            <a:r>
              <a:t>loss 很怪却不报错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4014216"/>
            <a:ext cx="7626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400" b="0">
                <a:solidFill>
                  <a:srgbClr val="17384B"/>
                </a:solidFill>
                <a:latin typeface="Noto Sans CJK SC"/>
              </a:defRPr>
            </a:pPr>
            <a:r>
              <a:t>检查 [B,1] 与 [B] 是否被广播成 [B,B]。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4672584"/>
            <a:ext cx="111099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855464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1">
                <a:solidFill>
                  <a:srgbClr val="187D72"/>
                </a:solidFill>
                <a:latin typeface="Noto Sans CJK SC"/>
              </a:defRPr>
            </a:pPr>
            <a:r>
              <a:t>加载后的结果不同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4855464"/>
            <a:ext cx="7626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400" b="0">
                <a:solidFill>
                  <a:srgbClr val="17384B"/>
                </a:solidFill>
                <a:latin typeface="Noto Sans CJK SC"/>
              </a:defRPr>
            </a:pPr>
            <a:r>
              <a:t>核对结构、权重文件、输入、模式与设备。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刚开始 exercises 因 TODO 报错是正常现象；参考环境检查使用 --impl reference。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进入第2周之前，脱稿回答这六题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答案不必逐字一致，但必须能结合你自己的代码说明。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    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148840"/>
            <a:ext cx="4846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1">
                <a:solidFill>
                  <a:srgbClr val="187D72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148840"/>
            <a:ext cx="10104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为什么 [32,1] 与 [32] 不能直接当作逐样本误差？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679192"/>
            <a:ext cx="4846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1">
                <a:solidFill>
                  <a:srgbClr val="187D72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679192"/>
            <a:ext cx="10104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x=2、y=5、w=1、b=0 时，dw 与 db 是多少？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209544"/>
            <a:ext cx="4846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1">
                <a:solidFill>
                  <a:srgbClr val="187D72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209544"/>
            <a:ext cx="10104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backward、step、zero_grad 各做什么？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3739896"/>
            <a:ext cx="4846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1">
                <a:solidFill>
                  <a:srgbClr val="187D72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739896"/>
            <a:ext cx="10104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lr=0 时，为什么有梯度却没有学习？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4270248"/>
            <a:ext cx="4846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1">
                <a:solidFill>
                  <a:srgbClr val="187D72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270248"/>
            <a:ext cx="10104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同一 batch 的 loss 很低，为什么不能证明泛化好？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800600"/>
            <a:ext cx="4846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500" b="1">
                <a:solidFill>
                  <a:srgbClr val="187D72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800600"/>
            <a:ext cx="10104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600" b="0">
                <a:solidFill>
                  <a:srgbClr val="17384B"/>
                </a:solidFill>
                <a:latin typeface="Noto Sans CJK SC"/>
              </a:defRPr>
            </a:pPr>
            <a:r>
              <a:t>state_dict 保存加载与完整恢复训练有什么区别？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完整24道问题与解答见手册和浏览器课件。先自己回答，再展开参考答案。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7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000" b="1">
                <a:solidFill>
                  <a:srgbClr val="187D72"/>
                </a:solidFill>
                <a:latin typeface="Noto Sans CJK SC"/>
              </a:defRPr>
            </a:pPr>
            <a:r>
              <a:t>WEEK 01   /   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2900" b="1">
                <a:solidFill>
                  <a:srgbClr val="17384B"/>
                </a:solidFill>
                <a:latin typeface="Noto Sans CJK SC"/>
              </a:defRPr>
            </a:pPr>
            <a:r>
              <a:t>本周资料与开始入口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0">
                <a:solidFill>
                  <a:srgbClr val="607887"/>
                </a:solidFill>
                <a:latin typeface="Noto Sans CJK SC"/>
              </a:defRPr>
            </a:pPr>
            <a:r>
              <a:t>只读这一组，不同时开多门课程。完整可点击链接在讲义与本页备注中。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大模型全链路学习 · 第1周 / CPU 最小实验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492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800" b="0">
                <a:solidFill>
                  <a:srgbClr val="607887"/>
                </a:solidFill>
                <a:latin typeface="Noto Sans CJK SC"/>
              </a:defRPr>
            </a:pPr>
            <a:r>
              <a:t>[R1–R9]    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148840"/>
            <a:ext cx="1110996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2276856"/>
            <a:ext cx="39502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1">
                <a:solidFill>
                  <a:srgbClr val="17384B"/>
                </a:solidFill>
                <a:latin typeface="Noto Sans CJK SC"/>
              </a:defRPr>
            </a:pPr>
            <a:r>
              <a:rPr>
                <a:hlinkClick r:id="rId3"/>
              </a:rPr>
              <a:t>Raschka Appendix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1343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200" b="0">
                <a:solidFill>
                  <a:srgbClr val="607887"/>
                </a:solidFill>
                <a:latin typeface="Noto Sans CJK SC"/>
              </a:defRPr>
            </a:pPr>
            <a:r>
              <a:t>A.1—A.8 按四次课分段阅读。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926080"/>
            <a:ext cx="1110996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6324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R3 / R4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3054096"/>
            <a:ext cx="39502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1">
                <a:solidFill>
                  <a:srgbClr val="17384B"/>
                </a:solidFill>
                <a:latin typeface="Noto Sans CJK SC"/>
              </a:defRPr>
            </a:pPr>
            <a:r>
              <a:rPr>
                <a:hlinkClick r:id="rId4"/>
              </a:rPr>
              <a:t>PyTorch 张量与自动求导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9067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200" b="0">
                <a:solidFill>
                  <a:srgbClr val="607887"/>
                </a:solidFill>
                <a:latin typeface="Noto Sans CJK SC"/>
              </a:defRPr>
            </a:pPr>
            <a:r>
              <a:t>第1—2次课查张量操作和求导行为。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3703320"/>
            <a:ext cx="1110996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4048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R5 / R7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3831335"/>
            <a:ext cx="39502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1">
                <a:solidFill>
                  <a:srgbClr val="17384B"/>
                </a:solidFill>
                <a:latin typeface="Noto Sans CJK SC"/>
              </a:defRPr>
            </a:pPr>
            <a:r>
              <a:rPr>
                <a:hlinkClick r:id="rId5"/>
              </a:rPr>
              <a:t>PyTorch 优化与梯度清零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67911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200" b="0">
                <a:solidFill>
                  <a:srgbClr val="607887"/>
                </a:solidFill>
                <a:latin typeface="Noto Sans CJK SC"/>
              </a:defRPr>
            </a:pPr>
            <a:r>
              <a:t>第3次课查训练循环和累积逻辑。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4480560"/>
            <a:ext cx="1110996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1772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300" b="1">
                <a:solidFill>
                  <a:srgbClr val="187D72"/>
                </a:solidFill>
                <a:latin typeface="Noto Sans CJK SC"/>
              </a:defRPr>
            </a:pPr>
            <a:r>
              <a:t>R6 / R8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7128" y="4608576"/>
            <a:ext cx="39502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700" b="1">
                <a:solidFill>
                  <a:srgbClr val="17384B"/>
                </a:solidFill>
                <a:latin typeface="Noto Sans CJK SC"/>
              </a:defRPr>
            </a:pPr>
            <a:r>
              <a:rPr>
                <a:hlinkClick r:id="rId6"/>
              </a:rPr>
              <a:t>PyTorch 保存与加载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4515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200" b="0">
                <a:solidFill>
                  <a:srgbClr val="607887"/>
                </a:solidFill>
                <a:latin typeface="Noto Sans CJK SC"/>
              </a:defRPr>
            </a:pPr>
            <a:r>
              <a:t>第4次课核对 state_dict 与检查点。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5879592"/>
            <a:ext cx="11109960" cy="384048"/>
          </a:xfrm>
          <a:prstGeom prst="roundRect">
            <a:avLst>
              <a:gd name="adj" fmla="val 12000"/>
            </a:avLst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5925312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defRPr sz="1100" b="0">
                <a:solidFill>
                  <a:srgbClr val="187D72"/>
                </a:solidFill>
                <a:latin typeface="Noto Sans CJK SC"/>
              </a:defRPr>
            </a:pPr>
            <a:r>
              <a:t>现在只做：打开学习手册第2节 → 检查环境 → 完成 exercises/tensor_ops.py。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